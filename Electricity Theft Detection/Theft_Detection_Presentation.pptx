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Cambria"/>
              </a:defRPr>
            </a:pPr>
            <a:r>
              <a:rPr lang="en-SG" sz="1400" b="0" i="0" u="none" strike="noStrike">
                <a:solidFill>
                  <a:srgbClr val="000000"/>
                </a:solidFill>
                <a:latin typeface="Cambria"/>
              </a:rPr>
              <a:t>F1-Score by Model (Theft Class)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 (Theft class)</c:v>
                </c:pt>
              </c:strCache>
            </c:strRef>
          </c:tx>
          <c:spPr>
            <a:solidFill>
              <a:srgbClr val="3AAFA9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32B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SVM
(RBF)</c:v>
                </c:pt>
                <c:pt idx="2">
                  <c:v>Random
Forest</c:v>
                </c:pt>
                <c:pt idx="3">
                  <c:v>Gradient
Boosting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0.73199999999999998</c:v>
                </c:pt>
                <c:pt idx="1">
                  <c:v>0.8</c:v>
                </c:pt>
                <c:pt idx="2">
                  <c:v>0.88600000000000001</c:v>
                </c:pt>
                <c:pt idx="3">
                  <c:v>0.89400000000000002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8C-4E4B-A0E9-4559B4F638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2B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2B3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55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"/>
            <a:ext cx="12188952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12188952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12188952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12188952" cy="178308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745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Electricity Theft Detection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97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AAF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Distribution Networks using Machine Learning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42900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AI/ML-based smart-meter analytics to flag high-risk consumers and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field inspection for power distribution utilities.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32609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1400" dirty="0" err="1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Kanakkaparambil</a:t>
            </a:r>
            <a:r>
              <a:rPr lang="en-US" sz="140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Nivedsagar [UTK23EE1001]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CFE8FF"/>
                </a:solidFill>
                <a:latin typeface="Calibri" pitchFamily="34" charset="0"/>
                <a:cs typeface="Calibri" pitchFamily="34" charset="-120"/>
              </a:rPr>
              <a:t>	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3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Non-Technical Losses (NTL)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theft and meter tampering silently drain utility revenue and destabilise distribution networks — and current detection methods can't keep up.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76200" dist="25400" dir="5400000" algn="bl" rotWithShape="0">
              <a:srgbClr val="1F3A5F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15–30%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889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distributed energy lost to NTL in some regions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76200" dist="25400" dir="5400000" algn="bl" rotWithShape="0">
              <a:srgbClr val="1F3A5F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343400" y="201168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$96B+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7889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global cost of electricity theft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8288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76200" dist="25400" dir="5400000" algn="bl" rotWithShape="0">
              <a:srgbClr val="1F3A5F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138160" y="201168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7889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inspections today — mostly find nothing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1440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current methods fail: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66344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inspections are slow, costly, and poorly targeted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Smart-meter (AMI) data is now collected at scale — but too voluminous to review manually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who tamper meters rarely self-report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3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502920" cy="502920"/>
          </a:xfrm>
          <a:prstGeom prst="ellipse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49047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Behavioural Features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statistical/behavioural signatures from daily AMI consumption data that reveal tampering patterns.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2344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92240" y="1508760"/>
            <a:ext cx="502920" cy="502920"/>
          </a:xfrm>
          <a:prstGeom prst="ellipse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9224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149047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Compare ML Models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1031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Logistic Regression, Random Forest, Gradient Boosting and SVM classifiers to flag theft-risk consumers.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" y="3840480"/>
            <a:ext cx="502920" cy="502920"/>
          </a:xfrm>
          <a:prstGeom prst="ellipse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2296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82219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Rigorously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434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Accuracy, Precision, Recall, F1 and ROC-AUC — metrics suited to a highly imbalanced classification problem.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35661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92240" y="3840480"/>
            <a:ext cx="502920" cy="502920"/>
          </a:xfrm>
          <a:prstGeom prst="ellipse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4922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382219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a Working Prototype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434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Streamlit web app for single-consumer checks and batch CSV screening, ready for analyst use.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737360" y="3429000"/>
            <a:ext cx="182880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2834640"/>
            <a:ext cx="1234440" cy="1188720"/>
          </a:xfrm>
          <a:prstGeom prst="roundRect">
            <a:avLst>
              <a:gd name="adj" fmla="val 7692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11480" y="283464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154680" y="3429000"/>
            <a:ext cx="182880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920240" y="2834640"/>
            <a:ext cx="1234440" cy="1188720"/>
          </a:xfrm>
          <a:prstGeom prst="roundRect">
            <a:avLst>
              <a:gd name="adj" fmla="val 7692"/>
            </a:avLst>
          </a:prstGeom>
          <a:solidFill>
            <a:srgbClr val="3AAF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828800" y="283464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3429000"/>
            <a:ext cx="182880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37560" y="2834640"/>
            <a:ext cx="1234440" cy="1188720"/>
          </a:xfrm>
          <a:prstGeom prst="roundRect">
            <a:avLst>
              <a:gd name="adj" fmla="val 7692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246120" y="283464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89320" y="3429000"/>
            <a:ext cx="182880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1234440" cy="1188720"/>
          </a:xfrm>
          <a:prstGeom prst="roundRect">
            <a:avLst>
              <a:gd name="adj" fmla="val 7692"/>
            </a:avLst>
          </a:prstGeom>
          <a:solidFill>
            <a:srgbClr val="3AAF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663440" y="283464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06640" y="3429000"/>
            <a:ext cx="182880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72200" y="2834640"/>
            <a:ext cx="1234440" cy="1188720"/>
          </a:xfrm>
          <a:prstGeom prst="roundRect">
            <a:avLst>
              <a:gd name="adj" fmla="val 7692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080760" y="283464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823960" y="3429000"/>
            <a:ext cx="182880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589520" y="2834640"/>
            <a:ext cx="1234440" cy="1188720"/>
          </a:xfrm>
          <a:prstGeom prst="roundRect">
            <a:avLst>
              <a:gd name="adj" fmla="val 7692"/>
            </a:avLst>
          </a:prstGeom>
          <a:solidFill>
            <a:srgbClr val="3AAF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498080" y="283464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241280" y="3429000"/>
            <a:ext cx="182880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006840" y="2834640"/>
            <a:ext cx="1234440" cy="1188720"/>
          </a:xfrm>
          <a:prstGeom prst="roundRect">
            <a:avLst>
              <a:gd name="adj" fmla="val 7692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8915400" y="283464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424160" y="2834640"/>
            <a:ext cx="1234440" cy="1188720"/>
          </a:xfrm>
          <a:prstGeom prst="roundRect">
            <a:avLst>
              <a:gd name="adj" fmla="val 7692"/>
            </a:avLst>
          </a:prstGeom>
          <a:solidFill>
            <a:srgbClr val="3AAF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10332720" y="283464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Demo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663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classical, feature-engineering-driven ML pipeline — interpretable, fast to train, and practical for utility-scale deployment.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3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Simulated Smart-Meter (AMI) Data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consumers · 180 days of daily kWh readings each · modelled on real AMI dataset structure (e.g., SGCC)</a:t>
            </a:r>
            <a:endParaRPr lang="en-US" sz="1400" dirty="0"/>
          </a:p>
        </p:txBody>
      </p:sp>
      <p:pic>
        <p:nvPicPr>
          <p:cNvPr id="4" name="Image 0" descr="/home/claude/theft_detection/report_assets/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3383280" cy="2706624"/>
          </a:xfrm>
          <a:prstGeom prst="rect">
            <a:avLst/>
          </a:prstGeom>
        </p:spPr>
      </p:pic>
      <p:pic>
        <p:nvPicPr>
          <p:cNvPr id="5" name="Image 1" descr="/home/claude/theft_detection/report_assets/theft_type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645920"/>
            <a:ext cx="4023360" cy="270662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458200" y="1645920"/>
            <a:ext cx="3154680" cy="4480560"/>
          </a:xfrm>
          <a:prstGeom prst="roundRect">
            <a:avLst>
              <a:gd name="adj" fmla="val 2319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8686800" y="181051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Simulated Theft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Signatures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8686800" y="242316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Drop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Stretches (bypass)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Flattened / Capped Reading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Under-reporting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Weekend Bypass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6177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~14% of consumers (427) exhibit a theft pattern — realistic class imbalance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3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000" dirty="0"/>
          </a:p>
        </p:txBody>
      </p:sp>
      <p:pic>
        <p:nvPicPr>
          <p:cNvPr id="3" name="Image 0" descr="/home/claude/theft_detection/report_assets/sample_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11155680" cy="34381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4754880"/>
            <a:ext cx="11155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observation:  </a:t>
            </a:r>
            <a:r>
              <a:rPr lang="en-US" sz="1400" dirty="0">
                <a:solidFill>
                  <a:srgbClr val="23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Theft consumers show irregular drops, flattening, or long zero-stretches that a normal load profile never exhibits — this behavioural gap is exactly what our engineered features capture.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3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statistical &amp; behavioural features engineered per consumer from raw 180-day series: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2025396"/>
            <a:ext cx="256032" cy="256032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143000" y="176479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/ median / min / max daily kWh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488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consumption level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73368" y="2025396"/>
            <a:ext cx="256032" cy="256032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766560" y="176479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std_daily_kwh, coefficient_of_variation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1488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of daily usage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9808" y="3122676"/>
            <a:ext cx="256032" cy="256032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143000" y="286207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zero_day_fraction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2461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/ zero-stretch tampering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2788920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73368" y="3122676"/>
            <a:ext cx="256032" cy="256032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766560" y="286207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trend_ratio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2461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under-reporting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49808" y="4219956"/>
            <a:ext cx="256032" cy="256032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1143000" y="395935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weekday_weekend_ratio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43434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weekend-only bypass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3886200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373368" y="4219956"/>
            <a:ext cx="256032" cy="256032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766560" y="395935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sudden_drop_count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43434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Abrupt tampering events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983480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49808" y="5317236"/>
            <a:ext cx="256032" cy="256032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1143000" y="505663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weekly_cv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" y="54406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Week-to-week inconsistency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72200" y="4983480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373368" y="5317236"/>
            <a:ext cx="256032" cy="256032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766560" y="505663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near_cap_fraction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766560" y="54406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Flattened / capped readings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3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 &amp; Comparison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classifiers trained on an 80/20 stratified split, with class-balancing to handle the ~86:14 imbalance: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0350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691640"/>
            <a:ext cx="4754880" cy="4206240"/>
          </a:xfrm>
          <a:prstGeom prst="roundRect">
            <a:avLst>
              <a:gd name="adj" fmla="val 1739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223760" y="1920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Winner: Gradient Boosting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223760" y="25146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97.17%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223760" y="3063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223760" y="35661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0.894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223760" y="4114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(Theft)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46177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0.991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5166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3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</a:t>
            </a:r>
            <a:endParaRPr lang="en-US" sz="3000" dirty="0"/>
          </a:p>
        </p:txBody>
      </p:sp>
      <p:pic>
        <p:nvPicPr>
          <p:cNvPr id="3" name="Image 0" descr="/home/claude/theft_detection/report_assets/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4160520" cy="3118104"/>
          </a:xfrm>
          <a:prstGeom prst="rect">
            <a:avLst/>
          </a:prstGeom>
        </p:spPr>
      </p:pic>
      <p:pic>
        <p:nvPicPr>
          <p:cNvPr id="4" name="Image 1" descr="/home/claude/theft_detection/report_assets/roc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188720"/>
            <a:ext cx="3291840" cy="32918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8412480" y="118872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8641080" y="1371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600 held-out consumers:</a:t>
            </a:r>
            <a:endParaRPr lang="en-US" sz="1250" dirty="0"/>
          </a:p>
        </p:txBody>
      </p:sp>
      <p:sp>
        <p:nvSpPr>
          <p:cNvPr id="7" name="Text 3"/>
          <p:cNvSpPr txBox="1"/>
          <p:nvPr/>
        </p:nvSpPr>
        <p:spPr>
          <a:xfrm>
            <a:off x="8641080" y="1783080"/>
            <a:ext cx="2880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23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of 85 theft cases correctly caught (~85% recall)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23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false alarms out of 515 normal consumers (&lt;1% FPR)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23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precision keeps inspection costs low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5720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confirms zero_day_fraction, trend_ratio and sudden_drop_count as the strongest predictors — directly matching known theft signatures.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Deployment: Streamlit Web Application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Consumer Check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 theft pattern or paste real daily readings — get an instant risk prediction with probability and visual load curve.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0" y="1828800"/>
            <a:ext cx="457200" cy="457200"/>
          </a:xfrm>
          <a:prstGeom prst="ellipse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5720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4231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Upload (CSV)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06324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multi-consumer CSV in AMI format and receive a ranked theft-risk worklist, exportable for field teams.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55448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21040" y="1828800"/>
            <a:ext cx="457200" cy="457200"/>
          </a:xfrm>
          <a:prstGeom prst="ellipse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3210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4231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06324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view of the comparison table, confusion matrix, ROC curve and feature importances for stakeholder review.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3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325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3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behavioural features outperform raw time-series for this tabular, moderate-sized dataset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3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achieves 97.2% accuracy, 0.89 F1 and 0.99 ROC-AUC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3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is lightweight, explainable, and ready for a real utility pilot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72200" y="11430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46520" y="1325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82880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real utility AMI + inspection-audit data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transformer-level &amp; neighbourhood-comparison features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LSTM / Temporal CNN once more labelled data is available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into a live SCADA / AMI utility dashboard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468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739</Words>
  <Application>Microsoft Macintosh PowerPoint</Application>
  <PresentationFormat>Widescreen</PresentationFormat>
  <Paragraphs>136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 Nivedsagar</cp:lastModifiedBy>
  <cp:revision>5</cp:revision>
  <dcterms:created xsi:type="dcterms:W3CDTF">2026-09-22T04:52:03Z</dcterms:created>
  <dcterms:modified xsi:type="dcterms:W3CDTF">2026-09-30T06:01:37Z</dcterms:modified>
</cp:coreProperties>
</file>